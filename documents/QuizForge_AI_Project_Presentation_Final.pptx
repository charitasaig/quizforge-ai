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33D6D2"/>
                </a:solidFill>
                <a:latin typeface="Aptos"/>
              </a:defRPr>
            </a:pPr>
            <a:r>
              <a:t>GMR INSTITUTE OF TECHNOLOGY  •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7240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4200" b="1">
                <a:solidFill>
                  <a:srgbClr val="F5F8FF"/>
                </a:solidFill>
                <a:latin typeface="Aptos Display"/>
              </a:defRPr>
            </a:pPr>
            <a:r>
              <a:t>QUIZFORGE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423160"/>
            <a:ext cx="676656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400" b="1">
                <a:solidFill>
                  <a:srgbClr val="33D6D2"/>
                </a:solidFill>
                <a:latin typeface="Aptos"/>
              </a:defRPr>
            </a:pPr>
            <a:r>
              <a:t>Smart Notes-to-Quiz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82112"/>
            <a:ext cx="612648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0">
                <a:solidFill>
                  <a:srgbClr val="A6B5CC"/>
                </a:solidFill>
                <a:latin typeface="Aptos"/>
              </a:defRPr>
            </a:pPr>
            <a:r>
              <a:t>Transform study material into structured practice questions—ready for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34440"/>
            <a:ext cx="3154680" cy="411480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18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1691640"/>
            <a:ext cx="2423160" cy="3154680"/>
          </a:xfrm>
          <a:prstGeom prst="roundRect">
            <a:avLst/>
          </a:prstGeom>
          <a:solidFill>
            <a:srgbClr val="0D182B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874519"/>
            <a:ext cx="19202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YOUR NOTES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2359152"/>
            <a:ext cx="1645920" cy="82296"/>
          </a:xfrm>
          <a:prstGeom prst="rect">
            <a:avLst/>
          </a:prstGeom>
          <a:solidFill>
            <a:srgbClr val="465B78"/>
          </a:solidFill>
          <a:ln w="12700">
            <a:solidFill>
              <a:srgbClr val="46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2670048"/>
            <a:ext cx="1417320" cy="82296"/>
          </a:xfrm>
          <a:prstGeom prst="rect">
            <a:avLst/>
          </a:prstGeom>
          <a:solidFill>
            <a:srgbClr val="465B78"/>
          </a:solidFill>
          <a:ln w="12700">
            <a:solidFill>
              <a:srgbClr val="46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2980944"/>
            <a:ext cx="1783080" cy="82296"/>
          </a:xfrm>
          <a:prstGeom prst="rect">
            <a:avLst/>
          </a:prstGeom>
          <a:solidFill>
            <a:srgbClr val="465B78"/>
          </a:solidFill>
          <a:ln w="12700">
            <a:solidFill>
              <a:srgbClr val="46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1">
                <a:solidFill>
                  <a:srgbClr val="FFC35C"/>
                </a:solidFill>
                <a:latin typeface="Aptos"/>
              </a:defRPr>
            </a:pPr>
            <a:r>
              <a:t>↓  AI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767328"/>
            <a:ext cx="1874519" cy="22860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3767328"/>
            <a:ext cx="1645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900" b="1">
                <a:solidFill>
                  <a:srgbClr val="F5F8FF"/>
                </a:solidFill>
                <a:latin typeface="Aptos"/>
              </a:defRPr>
            </a:pPr>
            <a:r>
              <a:t>Question 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078224"/>
            <a:ext cx="1874519" cy="22860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4078224"/>
            <a:ext cx="1645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900" b="1">
                <a:solidFill>
                  <a:srgbClr val="F5F8FF"/>
                </a:solidFill>
                <a:latin typeface="Aptos"/>
              </a:defRPr>
            </a:pPr>
            <a:r>
              <a:t>Question 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389120"/>
            <a:ext cx="1874519" cy="22860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55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4389120"/>
            <a:ext cx="16459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900" b="1">
                <a:solidFill>
                  <a:srgbClr val="F5F8FF"/>
                </a:solidFill>
                <a:latin typeface="Aptos"/>
              </a:defRPr>
            </a:pPr>
            <a:r>
              <a:t>Answer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Presented by: [Name / Team]     •     Guide: [Faculty 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73152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900" b="0">
                <a:solidFill>
                  <a:srgbClr val="A6B5CC"/>
                </a:solidFill>
                <a:latin typeface="Aptos"/>
              </a:defRPr>
            </a:pPr>
            <a:r>
              <a:t>AI-assisted learning  /  Natural language processing  / 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01 •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The learning problem—and the product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A focused tool for turning a learner’s own material into a useful self-check.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303520" cy="347472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13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600" b="1">
                <a:solidFill>
                  <a:srgbClr val="FFC35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78608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Writing practice questions manually takes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64408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1546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Generic question banks may not match class notes.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50208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Answer keys and explanations take extra effort to prepare.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5303520" cy="347472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13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600" b="1">
                <a:solidFill>
                  <a:srgbClr val="33D6D2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578608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4688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Use pasted notes or supported PDF/TXT files.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264408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1546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Set question format, difficulty and question count.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950208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84048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0">
                <a:solidFill>
                  <a:srgbClr val="F5F8FF"/>
                </a:solidFill>
                <a:latin typeface="Aptos"/>
              </a:defRPr>
            </a:pPr>
            <a:r>
              <a:t>Generate a quiz plus a separate answer key and explanations.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t>Design principle: accelerate practice, while keeping the learner responsible for checking academic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02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Architecture: from source material to a reviewable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Each layer has one responsibility; optional components should be shown only when implemented.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874519" cy="118872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69163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5793FF"/>
                </a:solidFill>
                <a:latin typeface="Aptos"/>
              </a:defRPr>
            </a:pPr>
            <a:r>
              <a:t>1 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532888"/>
            <a:ext cx="16550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Text / PDF / 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874519" cy="118872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103120"/>
            <a:ext cx="169163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33D6D2"/>
                </a:solidFill>
                <a:latin typeface="Aptos"/>
              </a:defRPr>
            </a:pPr>
            <a:r>
              <a:t>2  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532888"/>
            <a:ext cx="16550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Validate + 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65960"/>
            <a:ext cx="1874519" cy="118872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2103120"/>
            <a:ext cx="169163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FFC35C"/>
                </a:solidFill>
                <a:latin typeface="Aptos"/>
              </a:defRPr>
            </a:pPr>
            <a:r>
              <a:t>3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532888"/>
            <a:ext cx="16550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Clean / chunk*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965960"/>
            <a:ext cx="1874519" cy="118872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68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691639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68DCA4"/>
                </a:solidFill>
                <a:latin typeface="Aptos"/>
              </a:defRPr>
            </a:pPr>
            <a:r>
              <a:t>4  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532888"/>
            <a:ext cx="1655063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LLM + prompt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965960"/>
            <a:ext cx="1965960" cy="1188720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103120"/>
            <a:ext cx="17830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5793FF"/>
                </a:solidFill>
                <a:latin typeface="Aptos"/>
              </a:defRPr>
            </a:pPr>
            <a:r>
              <a:t>5 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2532888"/>
            <a:ext cx="17465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F5F8FF"/>
                </a:solidFill>
                <a:latin typeface="Aptos"/>
              </a:defRPr>
            </a:pPr>
            <a:r>
              <a:t>Quiz + key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04871" y="2560320"/>
            <a:ext cx="310897" cy="0"/>
          </a:xfrm>
          <a:prstGeom prst="line">
            <a:avLst/>
          </a:prstGeom>
          <a:ln w="2286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90872" y="2560320"/>
            <a:ext cx="310896" cy="0"/>
          </a:xfrm>
          <a:prstGeom prst="line">
            <a:avLst/>
          </a:prstGeom>
          <a:ln w="2286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76872" y="2560320"/>
            <a:ext cx="310896" cy="0"/>
          </a:xfrm>
          <a:prstGeom prst="line">
            <a:avLst/>
          </a:prstGeom>
          <a:ln w="2286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62872" y="2560320"/>
            <a:ext cx="310896" cy="0"/>
          </a:xfrm>
          <a:prstGeom prst="line">
            <a:avLst/>
          </a:prstGeom>
          <a:ln w="2286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3886200"/>
            <a:ext cx="4526280" cy="1143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3F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04164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1">
                <a:solidFill>
                  <a:srgbClr val="33D6D2"/>
                </a:solidFill>
                <a:latin typeface="Aptos"/>
              </a:defRPr>
            </a:pPr>
            <a:r>
              <a:t>VALIDATION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407408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Check structure, count, missing answers and possible duplicates.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886200"/>
            <a:ext cx="4526280" cy="114300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3F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04164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1">
                <a:solidFill>
                  <a:srgbClr val="33D6D2"/>
                </a:solidFill>
                <a:latin typeface="Aptos"/>
              </a:defRPr>
            </a:pPr>
            <a:r>
              <a:t>CROSS-CUTTING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407408"/>
            <a:ext cx="4069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"/>
              </a:defRPr>
            </a:pPr>
            <a:r>
              <a:t>API key protection • error handling • source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21040" y="3200400"/>
            <a:ext cx="0" cy="548639"/>
          </a:xfrm>
          <a:prstGeom prst="line">
            <a:avLst/>
          </a:prstGeom>
          <a:ln w="19050">
            <a:solidFill>
              <a:srgbClr val="68DC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486400"/>
            <a:ext cx="1088136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0">
                <a:solidFill>
                  <a:srgbClr val="A6B5CC"/>
                </a:solidFill>
                <a:latin typeface="Aptos"/>
              </a:defRPr>
            </a:pPr>
            <a:r>
              <a:t>*Chunking / retrieval (RAG) is an extension, not a guaranteed part of the MVP.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03 • EXECUTION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How QuizForge AI works: six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The sequence from the user’s first action to the final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3794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10512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Provide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Paste notes or upload a PDF/TXT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9164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83794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810512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Check file type, empty content and size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69164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9831" y="183794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10512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Extract &amp; 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35000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Read text and normalize it for the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70332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384962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22191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Set quiz options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Choose format, difficulty and number of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70332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84962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3822191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Generate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Send source notes and instructions to the LLM.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03320"/>
            <a:ext cx="3063240" cy="132588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849624"/>
            <a:ext cx="53035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900" b="1">
                <a:solidFill>
                  <a:srgbClr val="33D6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22191"/>
            <a:ext cx="2057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Review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361688"/>
            <a:ext cx="265176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Display questions, then answer key and explanations.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94760" y="2359152"/>
            <a:ext cx="256031" cy="0"/>
          </a:xfrm>
          <a:prstGeom prst="line">
            <a:avLst/>
          </a:prstGeom>
          <a:ln w="2032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269480" y="2359152"/>
            <a:ext cx="256032" cy="0"/>
          </a:xfrm>
          <a:prstGeom prst="line">
            <a:avLst/>
          </a:prstGeom>
          <a:ln w="2032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44000" y="3090672"/>
            <a:ext cx="0" cy="521208"/>
          </a:xfrm>
          <a:prstGeom prst="line">
            <a:avLst/>
          </a:prstGeom>
          <a:ln w="17780">
            <a:solidFill>
              <a:srgbClr val="537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315200" y="4370832"/>
            <a:ext cx="274320" cy="0"/>
          </a:xfrm>
          <a:prstGeom prst="line">
            <a:avLst/>
          </a:prstGeom>
          <a:ln w="2032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840480" y="4370832"/>
            <a:ext cx="274320" cy="0"/>
          </a:xfrm>
          <a:prstGeom prst="line">
            <a:avLst/>
          </a:prstGeom>
          <a:ln w="20320">
            <a:solidFill>
              <a:srgbClr val="33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5715000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FFC35C"/>
                </a:solidFill>
                <a:latin typeface="Aptos"/>
              </a:defRPr>
            </a:pPr>
            <a:r>
              <a:t>If extraction or the model call fails: show a clear message and let the user correct the input or retry.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04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Technology stack by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Keep the slide aligned with the libraries and services present in your actual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8366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7627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3347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Input forms, quiz settings, results 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8366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5793FF"/>
                </a:solidFill>
                <a:latin typeface="Aptos"/>
              </a:defRPr>
            </a:pPr>
            <a:r>
              <a:t>APPLICATION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7627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3347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Validation, orchestration and data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68D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8366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68DCA4"/>
                </a:solidFill>
                <a:latin typeface="Aptos"/>
              </a:defRPr>
            </a:pPr>
            <a:r>
              <a:t>AI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7627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Groq API / Gemini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3347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Prompt-based question and explanation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FFC3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80390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FFC35C"/>
                </a:solidFill>
                <a:latin typeface="Aptos"/>
              </a:defRPr>
            </a:pPr>
            <a:r>
              <a:t>DOCUMENT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9651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PDF / TXT parsing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55371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Extract readable text from study material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65760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80390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5793FF"/>
                </a:solidFill>
                <a:latin typeface="Aptos"/>
              </a:defRPr>
            </a:pPr>
            <a:r>
              <a:t>DATA &amp;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09651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pandas / CSV / SQLite*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5371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Tabular output, downloads or saved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657600"/>
            <a:ext cx="3429000" cy="15087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80390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96512"/>
            <a:ext cx="30175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Git / GitHub / Pytest*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53712"/>
            <a:ext cx="297180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0">
                <a:solidFill>
                  <a:srgbClr val="A6B5CC"/>
                </a:solidFill>
                <a:latin typeface="Aptos"/>
              </a:defRPr>
            </a:pPr>
            <a:r>
              <a:t>Version control and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9788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000" b="0">
                <a:solidFill>
                  <a:srgbClr val="A6B5CC"/>
                </a:solidFill>
                <a:latin typeface="Aptos"/>
              </a:defRPr>
            </a:pPr>
            <a:r>
              <a:t>*Optional / include only if implemented. RAG, embeddings, vector stores and Agentic AI are not assumed by this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05 • AI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How we improve the usefulness of generated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Prompt constraints create consistency; validation and source review reduce avoidable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33375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13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33D6D2"/>
                </a:solidFill>
                <a:latin typeface="Aptos"/>
              </a:defRPr>
            </a:pPr>
            <a:r>
              <a:t>PROMPT CONTRACT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24328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Use only supplied notes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36392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26664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Respect type, difficulty and count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48456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Return a predictable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160520"/>
            <a:ext cx="82296" cy="82296"/>
          </a:xfrm>
          <a:prstGeom prst="ellipse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50791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Include answer and explanation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737360"/>
            <a:ext cx="3429000" cy="33375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13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96596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68DCA4"/>
                </a:solidFill>
                <a:latin typeface="Aptos"/>
              </a:defRPr>
            </a:pPr>
            <a:r>
              <a:t>OUTPUT CHECKS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2624328"/>
            <a:ext cx="82296" cy="82296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514600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Required fields are present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136392"/>
            <a:ext cx="82296" cy="82296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026664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MCQ options are complete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3648456"/>
            <a:ext cx="82296" cy="82296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538728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Answers are not missing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4160520"/>
            <a:ext cx="82296" cy="82296"/>
          </a:xfrm>
          <a:prstGeom prst="ellipse">
            <a:avLst/>
          </a:prstGeom>
          <a:solidFill>
            <a:srgbClr val="68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050791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Possible duplicates are flagged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737360"/>
            <a:ext cx="3429000" cy="3337560"/>
          </a:xfrm>
          <a:prstGeom prst="roundRect">
            <a:avLst/>
          </a:prstGeom>
          <a:solidFill>
            <a:srgbClr val="131E33"/>
          </a:solidFill>
          <a:ln w="12700">
            <a:solidFill>
              <a:srgbClr val="13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96596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500" b="1">
                <a:solidFill>
                  <a:srgbClr val="FFC35C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0" y="2624328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59" y="2514600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Compare with source notes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3136392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3026664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Check ambiguous wording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3648456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59" y="3538728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Confirm the correct answer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4160520"/>
            <a:ext cx="82296" cy="82296"/>
          </a:xfrm>
          <a:prstGeom prst="ellipse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59" y="4050791"/>
            <a:ext cx="256032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F5F8FF"/>
                </a:solidFill>
                <a:latin typeface="Aptos"/>
              </a:defRPr>
            </a:pPr>
            <a:r>
              <a:t>Treat AI output as a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t>Important: an LLM can still produce an incorrect answer—even when the prompt is well designed.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000" b="1">
                <a:solidFill>
                  <a:srgbClr val="33D6D2"/>
                </a:solidFill>
                <a:latin typeface="Aptos"/>
              </a:defRPr>
            </a:pPr>
            <a:r>
              <a:t>06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06424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2700" b="1">
                <a:solidFill>
                  <a:srgbClr val="F5F8FF"/>
                </a:solidFill>
                <a:latin typeface="Aptos Display"/>
              </a:defRPr>
            </a:pPr>
            <a:r>
              <a:t>Test the behavior—not just a successful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200" b="0">
                <a:solidFill>
                  <a:srgbClr val="A6B5CC"/>
                </a:solidFill>
                <a:latin typeface="Aptos"/>
              </a:defRPr>
            </a:pPr>
            <a:r>
              <a:t>Use a repeatable test set and record actual results before presenting performance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560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defRPr sz="1000" b="1">
                <a:solidFill>
                  <a:srgbClr val="A6B5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INPUT ROBUSTNESS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18488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Empty notes • unsupported file • corrupt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58568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CONTENT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76856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Short and long notes • at least three subjects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16936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53512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35224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Question formats • difficulty levels • requested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75304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AI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93592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Timeout • rate limit • malformed model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33672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33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70248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OUTPUT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251959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Relevance • answer correctness • duplicate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2331720" cy="484632"/>
          </a:xfrm>
          <a:prstGeom prst="roundRect">
            <a:avLst/>
          </a:prstGeom>
          <a:solidFill>
            <a:srgbClr val="182841"/>
          </a:solidFill>
          <a:ln w="12700">
            <a:solidFill>
              <a:srgbClr val="57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28616"/>
            <a:ext cx="2057400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100" b="1">
                <a:solidFill>
                  <a:srgbClr val="F5F8FF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910327"/>
            <a:ext cx="7772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defRPr sz="1300" b="0">
                <a:solidFill>
                  <a:srgbClr val="A6B5CC"/>
                </a:solidFill>
                <a:latin typeface="Aptos"/>
              </a:defRPr>
            </a:pPr>
            <a:r>
              <a:t>Clear errors • readable quiz • retry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200" b="1">
                <a:solidFill>
                  <a:srgbClr val="33D6D2"/>
                </a:solidFill>
                <a:latin typeface="Aptos"/>
              </a:defRPr>
            </a:pPr>
            <a:r>
              <a:t>Suggested metrics: source relevance, answer accuracy, count compliance and response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Box 14"/>
          <p:cNvSpPr txBox="1"/>
          <p:nvPr/>
        </p:nvSpPr>
        <p:spPr>
          <a:xfrm>
            <a:off x="914400" y="2423160"/>
            <a:ext cx="10360152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QuizForge AI — Smart Notes-to-Quiz Generator</dc:title>
  <dc:subject>Revised project presentation with distinct architecture and step-by-step workflow slides</dc:subject>
  <dc:creator>GMR Institute of Technology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